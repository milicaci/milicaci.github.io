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План</c:v>
          </c:tx>
          <c:spPr>
            <a:ln w="28575">
              <a:solidFill>
                <a:srgbClr val="F47C20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</c:strLit>
          </c:cat>
          <c:val>
            <c:numLit>
              <c:formatCode>General</c:formatCode>
              <c:ptCount val="6"/>
              <c:pt idx="0">
                <c:v>72</c:v>
              </c:pt>
              <c:pt idx="1">
                <c:v>76</c:v>
              </c:pt>
              <c:pt idx="2">
                <c:v>81</c:v>
              </c:pt>
              <c:pt idx="3">
                <c:v>84</c:v>
              </c:pt>
              <c:pt idx="4">
                <c:v>89</c:v>
              </c:pt>
              <c:pt idx="5">
                <c:v>94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B11-4D36-BF76-BDA5037D340F}"/>
            </c:ext>
          </c:extLst>
        </c:ser>
        <c:ser>
          <c:idx val="1"/>
          <c:order val="1"/>
          <c:tx>
            <c:v>Факт</c:v>
          </c:tx>
          <c:spPr>
            <a:ln w="38100">
              <a:solidFill>
                <a:srgbClr val="4B007B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</c:strLit>
          </c:cat>
          <c:val>
            <c:numLit>
              <c:formatCode>General</c:formatCode>
              <c:ptCount val="6"/>
              <c:pt idx="0">
                <c:v>68</c:v>
              </c:pt>
              <c:pt idx="1">
                <c:v>79</c:v>
              </c:pt>
              <c:pt idx="2">
                <c:v>75</c:v>
              </c:pt>
              <c:pt idx="3">
                <c:v>88</c:v>
              </c:pt>
              <c:pt idx="4">
                <c:v>83</c:v>
              </c:pt>
              <c:pt idx="5">
                <c:v>87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CB11-4D36-BF76-BDA5037D3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60"/>
        </c:scaling>
        <c:delete val="0"/>
        <c:axPos val="l"/>
        <c:majorGridlines>
          <c:spPr>
            <a:ln w="9525">
              <a:solidFill>
                <a:srgbClr val="DDD0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50112"/>
        <c:crosses val="autoZero"/>
        <c:crossBetween val="between"/>
        <c:majorUnit val="10"/>
      </c:valAx>
      <c:spPr>
        <a:noFill/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Выручка, индекс</c:v>
          </c:tx>
          <c:spPr>
            <a:ln w="38100">
              <a:solidFill>
                <a:srgbClr val="4B007B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нед. 1</c:v>
              </c:pt>
              <c:pt idx="1">
                <c:v>нед. 2</c:v>
              </c:pt>
              <c:pt idx="2">
                <c:v>нед. 3</c:v>
              </c:pt>
              <c:pt idx="3">
                <c:v>нед. 4</c:v>
              </c:pt>
              <c:pt idx="4">
                <c:v>нед. 5</c:v>
              </c:pt>
              <c:pt idx="5">
                <c:v>нед. 6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107</c:v>
              </c:pt>
              <c:pt idx="2">
                <c:v>104</c:v>
              </c:pt>
              <c:pt idx="3">
                <c:v>113</c:v>
              </c:pt>
              <c:pt idx="4">
                <c:v>119</c:v>
              </c:pt>
              <c:pt idx="5">
                <c:v>116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1835-4A79-A7E8-145CF8793FA2}"/>
            </c:ext>
          </c:extLst>
        </c:ser>
        <c:ser>
          <c:idx val="1"/>
          <c:order val="1"/>
          <c:tx>
            <c:v>Продажи, индекс</c:v>
          </c:tx>
          <c:spPr>
            <a:ln w="38100">
              <a:solidFill>
                <a:srgbClr val="F47C20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нед. 1</c:v>
              </c:pt>
              <c:pt idx="1">
                <c:v>нед. 2</c:v>
              </c:pt>
              <c:pt idx="2">
                <c:v>нед. 3</c:v>
              </c:pt>
              <c:pt idx="3">
                <c:v>нед. 4</c:v>
              </c:pt>
              <c:pt idx="4">
                <c:v>нед. 5</c:v>
              </c:pt>
              <c:pt idx="5">
                <c:v>нед. 6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102</c:v>
              </c:pt>
              <c:pt idx="2">
                <c:v>109</c:v>
              </c:pt>
              <c:pt idx="3">
                <c:v>108</c:v>
              </c:pt>
              <c:pt idx="4">
                <c:v>115</c:v>
              </c:pt>
              <c:pt idx="5">
                <c:v>121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1835-4A79-A7E8-145CF8793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30"/>
          <c:min val="90"/>
        </c:scaling>
        <c:delete val="0"/>
        <c:axPos val="l"/>
        <c:majorGridlines>
          <c:spPr>
            <a:ln w="9525">
              <a:solidFill>
                <a:srgbClr val="DDD0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50112"/>
        <c:crosses val="autoZero"/>
        <c:crossBetween val="between"/>
        <c:majorUnit val="10"/>
      </c:valAx>
      <c:spPr>
        <a:noFill/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приложенный файл; проанализированы только видимые листы.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видимые листы «Общие показатели», «Marketing», «Ежедневный отчет», «Оборач-сть».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техническая структура только видимых листов приложенного файла.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функциональность видимых листов «Total», «Для фин-в распределение», «ИТОГИ месяц», «Оборач-сть».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 структуры: видимый лист «Total». Все названия и значения на слайде синтетические.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видимый лист «Для фин-в распределение» и формулы распределения расходов.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 структуры: видимые листы «ИТОГИ года», «ИТОГИ месяц», «ИТОГИ неделя», «Ежедневный отчет». Значения синтетические.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обобщение функциональности только видимых листов приложенного файла.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изображение листа, предоставленное пользователем; значения обезличены.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изображение листа, предоставленное пользователем; кабинеты и значения обезличены.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изображение листа, предоставленное пользователем; кабинеты и значения обезличены.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изображение листа, предоставленное пользователем; кабинеты и значения обезличены.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изображение листа, предоставленное пользователем; кабинеты и значения обезличены.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Источник: изображение листа, предоставленное пользователем; значения обезличены.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0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94ECD24-AC93-4973-AE07-81CB21E648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47C2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F1C9607-8906-42F4-8D43-0A6D7D39F2A0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E8D9F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D9F0"/>
                </a:solidFill>
                <a:latin typeface="Aptos"/>
                <a:ea typeface="Aptos"/>
                <a:cs typeface="Aptos"/>
              </a:rPr>
              <a:t>ПОРТФОЛИО · EXCEL / BI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8C33EC-B534-4B96-BF5A-9E181EB18882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95250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5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Аналитическая система</a:t>
            </a:r>
          </a:p>
          <a:p>
            <a:pPr algn="l">
              <a:defRPr sz="5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для маркетплейсов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51E47D-F336-422B-8B89-488627418C09}"/>
              </a:ext>
            </a:extLst>
          </p:cNvPr>
          <p:cNvSpPr>
            <a:spLocks noGrp="1"/>
          </p:cNvSpPr>
          <p:nvPr/>
        </p:nvSpPr>
        <p:spPr>
          <a:xfrm>
            <a:off x="419100" y="38290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0">
                <a:solidFill>
                  <a:srgbClr val="E8D9F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E8D9F0"/>
                </a:solidFill>
                <a:latin typeface="Aptos"/>
                <a:ea typeface="Aptos"/>
                <a:cs typeface="Aptos"/>
              </a:rPr>
              <a:t>От продаж и рекламы — до unit-экономики,</a:t>
            </a:r>
          </a:p>
          <a:p>
            <a:pPr algn="l">
              <a:defRPr sz="2250" b="0">
                <a:solidFill>
                  <a:srgbClr val="E8D9F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E8D9F0"/>
                </a:solidFill>
                <a:latin typeface="Aptos"/>
                <a:ea typeface="Aptos"/>
                <a:cs typeface="Aptos"/>
              </a:rPr>
              <a:t>штрафов и оборачиваемости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39FC39-7AEC-4454-9340-102AB1ADEB43}"/>
              </a:ext>
            </a:extLst>
          </p:cNvPr>
          <p:cNvSpPr>
            <a:spLocks noGrp="1"/>
          </p:cNvSpPr>
          <p:nvPr/>
        </p:nvSpPr>
        <p:spPr>
          <a:xfrm>
            <a:off x="419100" y="5848350"/>
            <a:ext cx="11353800" cy="38100"/>
          </a:xfrm>
          <a:prstGeom prst="rect">
            <a:avLst/>
          </a:prstGeom>
          <a:solidFill>
            <a:srgbClr val="F47C2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731D5E0-6DAE-44EB-B765-2DEF8F6F9098}"/>
              </a:ext>
            </a:extLst>
          </p:cNvPr>
          <p:cNvSpPr>
            <a:spLocks noGrp="1"/>
          </p:cNvSpPr>
          <p:nvPr/>
        </p:nvSpPr>
        <p:spPr>
          <a:xfrm>
            <a:off x="419100" y="60007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8D9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D9F0"/>
                </a:solidFill>
                <a:latin typeface="Aptos"/>
                <a:ea typeface="Aptos"/>
                <a:cs typeface="Aptos"/>
              </a:rPr>
              <a:t>Обезличенный кейс · демонстрационные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81823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A16FEF1-37FC-4991-9D28-131180A17D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E4B532-9375-4C20-993B-3E732F8CBC71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Единая модель управления e-commerce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F2BB300-73EF-49A6-8F2B-345DF2CD9B90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ABF863B-ED3D-4F5D-8D25-1BC783954A98}"/>
              </a:ext>
            </a:extLst>
          </p:cNvPr>
          <p:cNvSpPr>
            <a:spLocks noGrp="1"/>
          </p:cNvSpPr>
          <p:nvPr/>
        </p:nvSpPr>
        <p:spPr>
          <a:xfrm>
            <a:off x="285750" y="1257300"/>
            <a:ext cx="5191125" cy="46482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D2C6707-0E0E-4818-B1A4-DF276EDF1BD4}"/>
              </a:ext>
            </a:extLst>
          </p:cNvPr>
          <p:cNvSpPr>
            <a:spLocks noGrp="1"/>
          </p:cNvSpPr>
          <p:nvPr/>
        </p:nvSpPr>
        <p:spPr>
          <a:xfrm>
            <a:off x="5905500" y="1257300"/>
            <a:ext cx="5619750" cy="46482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594FDC-278B-41F0-9460-7389DAFC9945}"/>
              </a:ext>
            </a:extLst>
          </p:cNvPr>
          <p:cNvSpPr>
            <a:spLocks noGrp="1"/>
          </p:cNvSpPr>
          <p:nvPr/>
        </p:nvSpPr>
        <p:spPr>
          <a:xfrm>
            <a:off x="419100" y="13716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ЗАДАЧА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C57B748-C3F0-409B-B95D-1FDE5919D724}"/>
              </a:ext>
            </a:extLst>
          </p:cNvPr>
          <p:cNvSpPr>
            <a:spLocks noGrp="1"/>
          </p:cNvSpPr>
          <p:nvPr/>
        </p:nvSpPr>
        <p:spPr>
          <a:xfrm>
            <a:off x="419100" y="175260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0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4112F"/>
                </a:solidFill>
                <a:latin typeface="Aptos"/>
                <a:ea typeface="Aptos"/>
                <a:cs typeface="Aptos"/>
              </a:rPr>
              <a:t>Свести разрозненные данные кабинетов и маркетплейсов в одну управленческую картину.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7EECE8-9154-4A75-9DD9-15A5A993A556}"/>
              </a:ext>
            </a:extLst>
          </p:cNvPr>
          <p:cNvSpPr>
            <a:spLocks noGrp="1"/>
          </p:cNvSpPr>
          <p:nvPr/>
        </p:nvSpPr>
        <p:spPr>
          <a:xfrm>
            <a:off x="5753100" y="1352550"/>
            <a:ext cx="19050" cy="4324350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78AC27-7D6D-4657-B55B-E5C6E9DE684A}"/>
              </a:ext>
            </a:extLst>
          </p:cNvPr>
          <p:cNvSpPr>
            <a:spLocks noGrp="1"/>
          </p:cNvSpPr>
          <p:nvPr/>
        </p:nvSpPr>
        <p:spPr>
          <a:xfrm>
            <a:off x="6229350" y="140970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30D1682-0FE3-4C35-80EF-8F21353B36E3}"/>
              </a:ext>
            </a:extLst>
          </p:cNvPr>
          <p:cNvSpPr>
            <a:spLocks noGrp="1"/>
          </p:cNvSpPr>
          <p:nvPr/>
        </p:nvSpPr>
        <p:spPr>
          <a:xfrm>
            <a:off x="6905625" y="13906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Продажи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AF6444-18D8-4869-B5F6-104C780A28D3}"/>
              </a:ext>
            </a:extLst>
          </p:cNvPr>
          <p:cNvSpPr>
            <a:spLocks noGrp="1"/>
          </p:cNvSpPr>
          <p:nvPr/>
        </p:nvSpPr>
        <p:spPr>
          <a:xfrm>
            <a:off x="6905625" y="17716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заказы, выручка, возвраты, средний чек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B5E473D-AD91-43C7-B4E7-E11B59A72F36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501015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3E5B6B-D5DA-4304-B7F4-F07FFD09B4C2}"/>
              </a:ext>
            </a:extLst>
          </p:cNvPr>
          <p:cNvSpPr>
            <a:spLocks noGrp="1"/>
          </p:cNvSpPr>
          <p:nvPr/>
        </p:nvSpPr>
        <p:spPr>
          <a:xfrm>
            <a:off x="6229350" y="243840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FE406AD-ECE7-4372-82C7-FF4C18205302}"/>
              </a:ext>
            </a:extLst>
          </p:cNvPr>
          <p:cNvSpPr>
            <a:spLocks noGrp="1"/>
          </p:cNvSpPr>
          <p:nvPr/>
        </p:nvSpPr>
        <p:spPr>
          <a:xfrm>
            <a:off x="6905625" y="24193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Экономика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87AEC26-A915-4547-8D8A-9559F1E92653}"/>
              </a:ext>
            </a:extLst>
          </p:cNvPr>
          <p:cNvSpPr>
            <a:spLocks noGrp="1"/>
          </p:cNvSpPr>
          <p:nvPr/>
        </p:nvSpPr>
        <p:spPr>
          <a:xfrm>
            <a:off x="6905625" y="28003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комиссии, логистика, себестоимость, прибыль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3A42270-AF23-4830-A0FF-10D033997D28}"/>
              </a:ext>
            </a:extLst>
          </p:cNvPr>
          <p:cNvSpPr>
            <a:spLocks noGrp="1"/>
          </p:cNvSpPr>
          <p:nvPr/>
        </p:nvSpPr>
        <p:spPr>
          <a:xfrm>
            <a:off x="6229350" y="3314700"/>
            <a:ext cx="501015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5361CDE-B6A4-4BA0-8087-02178B154887}"/>
              </a:ext>
            </a:extLst>
          </p:cNvPr>
          <p:cNvSpPr>
            <a:spLocks noGrp="1"/>
          </p:cNvSpPr>
          <p:nvPr/>
        </p:nvSpPr>
        <p:spPr>
          <a:xfrm>
            <a:off x="6229350" y="346710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7D7EB1E-45DA-4C97-B6B6-4DBD89725838}"/>
              </a:ext>
            </a:extLst>
          </p:cNvPr>
          <p:cNvSpPr>
            <a:spLocks noGrp="1"/>
          </p:cNvSpPr>
          <p:nvPr/>
        </p:nvSpPr>
        <p:spPr>
          <a:xfrm>
            <a:off x="6905625" y="34480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Продвижение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E24E442-6907-431F-BA99-83E5634DDAF9}"/>
              </a:ext>
            </a:extLst>
          </p:cNvPr>
          <p:cNvSpPr>
            <a:spLocks noGrp="1"/>
          </p:cNvSpPr>
          <p:nvPr/>
        </p:nvSpPr>
        <p:spPr>
          <a:xfrm>
            <a:off x="6905625" y="38290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реклама, маркетинг, ДРР и промо-бонусы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B59E9F5-BA27-40B3-997B-48FEDBA86366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1015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4D815A4-B29C-4B49-A02E-F5E8BAD5275B}"/>
              </a:ext>
            </a:extLst>
          </p:cNvPr>
          <p:cNvSpPr>
            <a:spLocks noGrp="1"/>
          </p:cNvSpPr>
          <p:nvPr/>
        </p:nvSpPr>
        <p:spPr>
          <a:xfrm>
            <a:off x="6229350" y="449580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0F63EAC-60DB-4CA5-84D3-850AD7E7258D}"/>
              </a:ext>
            </a:extLst>
          </p:cNvPr>
          <p:cNvSpPr>
            <a:spLocks noGrp="1"/>
          </p:cNvSpPr>
          <p:nvPr/>
        </p:nvSpPr>
        <p:spPr>
          <a:xfrm>
            <a:off x="6905625" y="44767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Запасы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B302D1A-2818-4C34-AF0A-C800C5CB5283}"/>
              </a:ext>
            </a:extLst>
          </p:cNvPr>
          <p:cNvSpPr>
            <a:spLocks noGrp="1"/>
          </p:cNvSpPr>
          <p:nvPr/>
        </p:nvSpPr>
        <p:spPr>
          <a:xfrm>
            <a:off x="6905625" y="48577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сток, скорость продаж и оборачиваемость</a:t>
            </a:r>
          </a:p>
        </p:txBody>
      </p:sp>
    </p:spTree>
    <p:extLst>
      <p:ext uri="{BB962C8B-B14F-4D97-AF65-F5344CB8AC3E}">
        <p14:creationId xmlns:p14="http://schemas.microsoft.com/office/powerpoint/2010/main" val="560448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64D5294-0A7E-42AF-91E1-C13DE9AE1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87646B-A5C4-460B-A643-45BDFFAF1EED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Масштаб решения виден в его структуре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582F460-702C-4751-86F0-2D6536B4A2B1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A3B018D-BCFD-4EB8-A302-4022989FB04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3429000" cy="33718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85EB34D-9610-4F92-B3C2-677A7DC70AEB}"/>
              </a:ext>
            </a:extLst>
          </p:cNvPr>
          <p:cNvSpPr>
            <a:spLocks noGrp="1"/>
          </p:cNvSpPr>
          <p:nvPr/>
        </p:nvSpPr>
        <p:spPr>
          <a:xfrm>
            <a:off x="4276725" y="1409700"/>
            <a:ext cx="3429000" cy="33718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7954197-A4C6-486F-8612-85982AB9C20B}"/>
              </a:ext>
            </a:extLst>
          </p:cNvPr>
          <p:cNvSpPr>
            <a:spLocks noGrp="1"/>
          </p:cNvSpPr>
          <p:nvPr/>
        </p:nvSpPr>
        <p:spPr>
          <a:xfrm>
            <a:off x="8134350" y="1409700"/>
            <a:ext cx="3429000" cy="33718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6BC5642-91C7-45D9-977B-11BAFE9FFC4D}"/>
              </a:ext>
            </a:extLst>
          </p:cNvPr>
          <p:cNvSpPr>
            <a:spLocks noGrp="1"/>
          </p:cNvSpPr>
          <p:nvPr/>
        </p:nvSpPr>
        <p:spPr>
          <a:xfrm>
            <a:off x="419100" y="1619250"/>
            <a:ext cx="314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65797B2-B932-443C-9DD8-7A24A37A0699}"/>
              </a:ext>
            </a:extLst>
          </p:cNvPr>
          <p:cNvSpPr>
            <a:spLocks noGrp="1"/>
          </p:cNvSpPr>
          <p:nvPr/>
        </p:nvSpPr>
        <p:spPr>
          <a:xfrm>
            <a:off x="419100" y="27813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видимых листов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B16A201-4E40-43E9-AA6E-3E868C3314A7}"/>
              </a:ext>
            </a:extLst>
          </p:cNvPr>
          <p:cNvSpPr>
            <a:spLocks noGrp="1"/>
          </p:cNvSpPr>
          <p:nvPr/>
        </p:nvSpPr>
        <p:spPr>
          <a:xfrm>
            <a:off x="419100" y="3333750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от сводного дашборда до операционных срезов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BB493B6-75E2-4DCD-BD46-29EA6AAFF9DD}"/>
              </a:ext>
            </a:extLst>
          </p:cNvPr>
          <p:cNvSpPr>
            <a:spLocks noGrp="1"/>
          </p:cNvSpPr>
          <p:nvPr/>
        </p:nvSpPr>
        <p:spPr>
          <a:xfrm>
            <a:off x="3848100" y="1562100"/>
            <a:ext cx="9525" cy="3028950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A80CD72-4BE6-4AA0-91B9-6E8FC17A6F37}"/>
              </a:ext>
            </a:extLst>
          </p:cNvPr>
          <p:cNvSpPr>
            <a:spLocks noGrp="1"/>
          </p:cNvSpPr>
          <p:nvPr/>
        </p:nvSpPr>
        <p:spPr>
          <a:xfrm>
            <a:off x="4276725" y="1619250"/>
            <a:ext cx="314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0" b="1">
                <a:solidFill>
                  <a:srgbClr val="7B61A8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7B61A8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520EDE3-4B8D-424A-A443-A884DE14FBC4}"/>
              </a:ext>
            </a:extLst>
          </p:cNvPr>
          <p:cNvSpPr>
            <a:spLocks noGrp="1"/>
          </p:cNvSpPr>
          <p:nvPr/>
        </p:nvSpPr>
        <p:spPr>
          <a:xfrm>
            <a:off x="4276725" y="27813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сводных таблиц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B019340-77F3-48B0-B1D4-5E2F44B81F95}"/>
              </a:ext>
            </a:extLst>
          </p:cNvPr>
          <p:cNvSpPr>
            <a:spLocks noGrp="1"/>
          </p:cNvSpPr>
          <p:nvPr/>
        </p:nvSpPr>
        <p:spPr>
          <a:xfrm>
            <a:off x="4276725" y="3333750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единые правила агрегации по периодам и разрезам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E27E8CE-C55E-4FD9-BD0F-46822F4D98E0}"/>
              </a:ext>
            </a:extLst>
          </p:cNvPr>
          <p:cNvSpPr>
            <a:spLocks noGrp="1"/>
          </p:cNvSpPr>
          <p:nvPr/>
        </p:nvSpPr>
        <p:spPr>
          <a:xfrm>
            <a:off x="7705725" y="1562100"/>
            <a:ext cx="9525" cy="3028950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6292A0F-2110-4E0F-BEE5-AC3EE9F34F80}"/>
              </a:ext>
            </a:extLst>
          </p:cNvPr>
          <p:cNvSpPr>
            <a:spLocks noGrp="1"/>
          </p:cNvSpPr>
          <p:nvPr/>
        </p:nvSpPr>
        <p:spPr>
          <a:xfrm>
            <a:off x="8134350" y="1619250"/>
            <a:ext cx="314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6FDECA9-8AF8-48F1-924A-9EDFA2F9D65A}"/>
              </a:ext>
            </a:extLst>
          </p:cNvPr>
          <p:cNvSpPr>
            <a:spLocks noGrp="1"/>
          </p:cNvSpPr>
          <p:nvPr/>
        </p:nvSpPr>
        <p:spPr>
          <a:xfrm>
            <a:off x="8134350" y="27813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диаграмм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8513FCF-D2D1-4D92-83EB-CE88B8DF6DAC}"/>
              </a:ext>
            </a:extLst>
          </p:cNvPr>
          <p:cNvSpPr>
            <a:spLocks noGrp="1"/>
          </p:cNvSpPr>
          <p:nvPr/>
        </p:nvSpPr>
        <p:spPr>
          <a:xfrm>
            <a:off x="8134350" y="3333750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динамика, структура, сравнения и контроль отклонений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9B714F5-3857-45A4-8075-8297D9ED0B6C}"/>
              </a:ext>
            </a:extLst>
          </p:cNvPr>
          <p:cNvSpPr>
            <a:spLocks noGrp="1"/>
          </p:cNvSpPr>
          <p:nvPr/>
        </p:nvSpPr>
        <p:spPr>
          <a:xfrm>
            <a:off x="419100" y="5086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6077"/>
                </a:solidFill>
                <a:latin typeface="Aptos"/>
                <a:ea typeface="Aptos"/>
                <a:cs typeface="Aptos"/>
              </a:rPr>
              <a:t>Периодичность анализа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85EA856-089B-44ED-B26E-A581142BE8E4}"/>
              </a:ext>
            </a:extLst>
          </p:cNvPr>
          <p:cNvSpPr>
            <a:spLocks noGrp="1"/>
          </p:cNvSpPr>
          <p:nvPr/>
        </p:nvSpPr>
        <p:spPr>
          <a:xfrm>
            <a:off x="3524250" y="49911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ГОД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D72DB13-8F62-437E-BCEF-C0C38A1575A5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524000" cy="38100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2AA24F5-8044-4229-8E61-7545593A3E2C}"/>
              </a:ext>
            </a:extLst>
          </p:cNvPr>
          <p:cNvSpPr>
            <a:spLocks noGrp="1"/>
          </p:cNvSpPr>
          <p:nvPr/>
        </p:nvSpPr>
        <p:spPr>
          <a:xfrm>
            <a:off x="5429250" y="49911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2F73CCC-707E-4578-9230-19B5AD05AC60}"/>
              </a:ext>
            </a:extLst>
          </p:cNvPr>
          <p:cNvSpPr>
            <a:spLocks noGrp="1"/>
          </p:cNvSpPr>
          <p:nvPr/>
        </p:nvSpPr>
        <p:spPr>
          <a:xfrm>
            <a:off x="5429250" y="5572125"/>
            <a:ext cx="1524000" cy="38100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4D19485-EAB4-4086-A380-70418EE3C9CA}"/>
              </a:ext>
            </a:extLst>
          </p:cNvPr>
          <p:cNvSpPr>
            <a:spLocks noGrp="1"/>
          </p:cNvSpPr>
          <p:nvPr/>
        </p:nvSpPr>
        <p:spPr>
          <a:xfrm>
            <a:off x="7334250" y="49911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НЕДЕЛЯ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DA377E7-91A6-4CE4-BBFF-7FE2BAE0E444}"/>
              </a:ext>
            </a:extLst>
          </p:cNvPr>
          <p:cNvSpPr>
            <a:spLocks noGrp="1"/>
          </p:cNvSpPr>
          <p:nvPr/>
        </p:nvSpPr>
        <p:spPr>
          <a:xfrm>
            <a:off x="7334250" y="5572125"/>
            <a:ext cx="1524000" cy="38100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421B660-161B-4DB2-81B5-70D57DE2526D}"/>
              </a:ext>
            </a:extLst>
          </p:cNvPr>
          <p:cNvSpPr>
            <a:spLocks noGrp="1"/>
          </p:cNvSpPr>
          <p:nvPr/>
        </p:nvSpPr>
        <p:spPr>
          <a:xfrm>
            <a:off x="9239250" y="49911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ДЕНЬ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D7C12E3-91AF-4D8E-8E20-A8580E03B245}"/>
              </a:ext>
            </a:extLst>
          </p:cNvPr>
          <p:cNvSpPr>
            <a:spLocks noGrp="1"/>
          </p:cNvSpPr>
          <p:nvPr/>
        </p:nvSpPr>
        <p:spPr>
          <a:xfrm>
            <a:off x="9239250" y="5572125"/>
            <a:ext cx="1524000" cy="38100"/>
          </a:xfrm>
          <a:prstGeom prst="rect">
            <a:avLst/>
          </a:prstGeom>
          <a:solidFill>
            <a:srgbClr val="2D4E83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18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00F686-34EA-4BB4-916F-2133E36172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3EA870-12A9-4046-9ED9-93C503DB5536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Аналитика отвечает на вопросы разных ролей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61FB0A-4EB9-4270-9BA1-952AC08BD177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C2E4081-A45F-4A4E-B9C5-366A389BFE22}"/>
              </a:ext>
            </a:extLst>
          </p:cNvPr>
          <p:cNvSpPr>
            <a:spLocks noGrp="1"/>
          </p:cNvSpPr>
          <p:nvPr/>
        </p:nvSpPr>
        <p:spPr>
          <a:xfrm>
            <a:off x="419100" y="1466850"/>
            <a:ext cx="3429000" cy="39433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3AE2D3-F4BC-48D1-AF4C-1C76A4359CE5}"/>
              </a:ext>
            </a:extLst>
          </p:cNvPr>
          <p:cNvSpPr>
            <a:spLocks noGrp="1"/>
          </p:cNvSpPr>
          <p:nvPr/>
        </p:nvSpPr>
        <p:spPr>
          <a:xfrm>
            <a:off x="419100" y="16573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Руководитель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452A9-CE98-4C7F-BC65-2561204C25A6}"/>
              </a:ext>
            </a:extLst>
          </p:cNvPr>
          <p:cNvSpPr>
            <a:spLocks noGrp="1"/>
          </p:cNvSpPr>
          <p:nvPr/>
        </p:nvSpPr>
        <p:spPr>
          <a:xfrm>
            <a:off x="419100" y="2266950"/>
            <a:ext cx="3143250" cy="38100"/>
          </a:xfrm>
          <a:prstGeom prst="rect">
            <a:avLst/>
          </a:prstGeom>
          <a:solidFill>
            <a:srgbClr val="2D4E83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EF7978A-9535-46E5-AA24-4538BCD5AFC7}"/>
              </a:ext>
            </a:extLst>
          </p:cNvPr>
          <p:cNvSpPr>
            <a:spLocks noGrp="1"/>
          </p:cNvSpPr>
          <p:nvPr/>
        </p:nvSpPr>
        <p:spPr>
          <a:xfrm>
            <a:off x="419100" y="26860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B9EB59-FA24-4CB5-8159-2477CB8E649A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Выполняется ли план?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8E28EE2-FF99-4054-B78D-C33FF36AFC58}"/>
              </a:ext>
            </a:extLst>
          </p:cNvPr>
          <p:cNvSpPr>
            <a:spLocks noGrp="1"/>
          </p:cNvSpPr>
          <p:nvPr/>
        </p:nvSpPr>
        <p:spPr>
          <a:xfrm>
            <a:off x="419100" y="35242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961E0A5-5244-499C-92D1-381CF5C3671F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Где теряется прибыль?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6236D02-460A-43EA-984A-074984C3549E}"/>
              </a:ext>
            </a:extLst>
          </p:cNvPr>
          <p:cNvSpPr>
            <a:spLocks noGrp="1"/>
          </p:cNvSpPr>
          <p:nvPr/>
        </p:nvSpPr>
        <p:spPr>
          <a:xfrm>
            <a:off x="419100" y="43624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AECE3C5-1AA3-41D3-8D83-32AE3B6C1B64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Какие категории растут?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8FC4F9F-C13D-4BC8-A046-9855ED722A2F}"/>
              </a:ext>
            </a:extLst>
          </p:cNvPr>
          <p:cNvSpPr>
            <a:spLocks noGrp="1"/>
          </p:cNvSpPr>
          <p:nvPr/>
        </p:nvSpPr>
        <p:spPr>
          <a:xfrm>
            <a:off x="4286250" y="1466850"/>
            <a:ext cx="3429000" cy="39433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AC892F-0260-4E6F-BCB2-D6686EA2EA8A}"/>
              </a:ext>
            </a:extLst>
          </p:cNvPr>
          <p:cNvSpPr>
            <a:spLocks noGrp="1"/>
          </p:cNvSpPr>
          <p:nvPr/>
        </p:nvSpPr>
        <p:spPr>
          <a:xfrm>
            <a:off x="4286250" y="16573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Финансы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7CE8E6-065C-446C-B21A-72D786E0452B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3143250" cy="381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2780E04-9AC8-4357-93DF-2E3E7DAF33D9}"/>
              </a:ext>
            </a:extLst>
          </p:cNvPr>
          <p:cNvSpPr>
            <a:spLocks noGrp="1"/>
          </p:cNvSpPr>
          <p:nvPr/>
        </p:nvSpPr>
        <p:spPr>
          <a:xfrm>
            <a:off x="4286250" y="26860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7AE7403-27ED-43A4-B7A3-0A59BF55929D}"/>
              </a:ext>
            </a:extLst>
          </p:cNvPr>
          <p:cNvSpPr>
            <a:spLocks noGrp="1"/>
          </p:cNvSpPr>
          <p:nvPr/>
        </p:nvSpPr>
        <p:spPr>
          <a:xfrm>
            <a:off x="4648200" y="26098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Как распределить общие расходы?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7920604-C590-4A96-A628-729C8F382311}"/>
              </a:ext>
            </a:extLst>
          </p:cNvPr>
          <p:cNvSpPr>
            <a:spLocks noGrp="1"/>
          </p:cNvSpPr>
          <p:nvPr/>
        </p:nvSpPr>
        <p:spPr>
          <a:xfrm>
            <a:off x="4286250" y="35242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B67D3E1-2408-4361-AD94-EC923B0BDA16}"/>
              </a:ext>
            </a:extLst>
          </p:cNvPr>
          <p:cNvSpPr>
            <a:spLocks noGrp="1"/>
          </p:cNvSpPr>
          <p:nvPr/>
        </p:nvSpPr>
        <p:spPr>
          <a:xfrm>
            <a:off x="4648200" y="34480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Что формирует перечисление?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F590D52-0D79-469B-B880-E176AE3598AB}"/>
              </a:ext>
            </a:extLst>
          </p:cNvPr>
          <p:cNvSpPr>
            <a:spLocks noGrp="1"/>
          </p:cNvSpPr>
          <p:nvPr/>
        </p:nvSpPr>
        <p:spPr>
          <a:xfrm>
            <a:off x="4286250" y="43624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D664AA-02AA-46C5-9A7C-66054D2342A4}"/>
              </a:ext>
            </a:extLst>
          </p:cNvPr>
          <p:cNvSpPr>
            <a:spLocks noGrp="1"/>
          </p:cNvSpPr>
          <p:nvPr/>
        </p:nvSpPr>
        <p:spPr>
          <a:xfrm>
            <a:off x="4648200" y="42862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Где аномалии и штрафы?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034BFBA-4661-4377-B538-94941DDFCA85}"/>
              </a:ext>
            </a:extLst>
          </p:cNvPr>
          <p:cNvSpPr>
            <a:spLocks noGrp="1"/>
          </p:cNvSpPr>
          <p:nvPr/>
        </p:nvSpPr>
        <p:spPr>
          <a:xfrm>
            <a:off x="8153400" y="1466850"/>
            <a:ext cx="3429000" cy="39433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C4AE086-7F40-440E-B037-DFC81C4334FB}"/>
              </a:ext>
            </a:extLst>
          </p:cNvPr>
          <p:cNvSpPr>
            <a:spLocks noGrp="1"/>
          </p:cNvSpPr>
          <p:nvPr/>
        </p:nvSpPr>
        <p:spPr>
          <a:xfrm>
            <a:off x="8153400" y="16573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Коммерция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839B34D-DE7F-4831-8A62-E33ED6750B37}"/>
              </a:ext>
            </a:extLst>
          </p:cNvPr>
          <p:cNvSpPr>
            <a:spLocks noGrp="1"/>
          </p:cNvSpPr>
          <p:nvPr/>
        </p:nvSpPr>
        <p:spPr>
          <a:xfrm>
            <a:off x="8153400" y="2266950"/>
            <a:ext cx="3143250" cy="38100"/>
          </a:xfrm>
          <a:prstGeom prst="rect">
            <a:avLst/>
          </a:prstGeom>
          <a:solidFill>
            <a:srgbClr val="F47C2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249C15D-9EA5-4260-A579-AFAF804C27E8}"/>
              </a:ext>
            </a:extLst>
          </p:cNvPr>
          <p:cNvSpPr>
            <a:spLocks noGrp="1"/>
          </p:cNvSpPr>
          <p:nvPr/>
        </p:nvSpPr>
        <p:spPr>
          <a:xfrm>
            <a:off x="8153400" y="26860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97261A1-55A9-4E85-90B2-06CA8C81B90B}"/>
              </a:ext>
            </a:extLst>
          </p:cNvPr>
          <p:cNvSpPr>
            <a:spLocks noGrp="1"/>
          </p:cNvSpPr>
          <p:nvPr/>
        </p:nvSpPr>
        <p:spPr>
          <a:xfrm>
            <a:off x="8515350" y="26098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Как меняются продажи?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9B3E280-27A7-45A2-B9A9-3CA18AFD03C5}"/>
              </a:ext>
            </a:extLst>
          </p:cNvPr>
          <p:cNvSpPr>
            <a:spLocks noGrp="1"/>
          </p:cNvSpPr>
          <p:nvPr/>
        </p:nvSpPr>
        <p:spPr>
          <a:xfrm>
            <a:off x="8153400" y="35242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F7688AA-12A0-49B5-BF62-8A835EFE6315}"/>
              </a:ext>
            </a:extLst>
          </p:cNvPr>
          <p:cNvSpPr>
            <a:spLocks noGrp="1"/>
          </p:cNvSpPr>
          <p:nvPr/>
        </p:nvSpPr>
        <p:spPr>
          <a:xfrm>
            <a:off x="8515350" y="34480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Как работает реклама?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5E7CD94-317C-45C2-9A51-56AB74CB1E82}"/>
              </a:ext>
            </a:extLst>
          </p:cNvPr>
          <p:cNvSpPr>
            <a:spLocks noGrp="1"/>
          </p:cNvSpPr>
          <p:nvPr/>
        </p:nvSpPr>
        <p:spPr>
          <a:xfrm>
            <a:off x="8153400" y="4362450"/>
            <a:ext cx="247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DFE01F8-F4DE-4B9E-B470-E79774816804}"/>
              </a:ext>
            </a:extLst>
          </p:cNvPr>
          <p:cNvSpPr>
            <a:spLocks noGrp="1"/>
          </p:cNvSpPr>
          <p:nvPr/>
        </p:nvSpPr>
        <p:spPr>
          <a:xfrm>
            <a:off x="8515350" y="42862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Когда пополнять запас?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1A4FD03-2EAB-4D6F-BD40-58C986EB00B1}"/>
              </a:ext>
            </a:extLst>
          </p:cNvPr>
          <p:cNvSpPr>
            <a:spLocks noGrp="1"/>
          </p:cNvSpPr>
          <p:nvPr/>
        </p:nvSpPr>
        <p:spPr>
          <a:xfrm>
            <a:off x="419100" y="5791200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Один источник логики → разные управленческие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03658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6532664-33B9-4BA8-A614-8A6F2CCD1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623D3C3-08C6-47EA-8BCC-3BF64DC28033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Дашборд показывает отклонения и драйверы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237CE0-595B-485B-8BE6-4FBE16D80228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AB7A6A0-16A3-4493-8305-059129149532}"/>
              </a:ext>
            </a:extLst>
          </p:cNvPr>
          <p:cNvSpPr>
            <a:spLocks noGrp="1"/>
          </p:cNvSpPr>
          <p:nvPr/>
        </p:nvSpPr>
        <p:spPr>
          <a:xfrm>
            <a:off x="285750" y="1314450"/>
            <a:ext cx="619125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DBB6E64-925B-4FB2-A3C4-26644D344194}"/>
              </a:ext>
            </a:extLst>
          </p:cNvPr>
          <p:cNvSpPr>
            <a:spLocks noGrp="1"/>
          </p:cNvSpPr>
          <p:nvPr/>
        </p:nvSpPr>
        <p:spPr>
          <a:xfrm>
            <a:off x="6572250" y="1314450"/>
            <a:ext cx="495300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1038D6-E174-42FE-9178-BB0FBCEBA9C6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077"/>
                </a:solidFill>
                <a:latin typeface="Aptos"/>
                <a:ea typeface="Aptos"/>
                <a:cs typeface="Aptos"/>
              </a:rPr>
              <a:t>ДЕМОНСТРАЦИОННЫЕ ДАННЫЕ · КАБИНЕТЫ A / B / C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11E53F-A70C-4D9A-9345-D28F1E5BEBF1}"/>
              </a:ext>
            </a:extLst>
          </p:cNvPr>
          <p:cNvSpPr>
            <a:spLocks noGrp="1"/>
          </p:cNvSpPr>
          <p:nvPr/>
        </p:nvSpPr>
        <p:spPr>
          <a:xfrm>
            <a:off x="6667500" y="1466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План продаж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BFBAADD-4E66-4B08-85BD-917AFE92936F}"/>
              </a:ext>
            </a:extLst>
          </p:cNvPr>
          <p:cNvSpPr>
            <a:spLocks noGrp="1"/>
          </p:cNvSpPr>
          <p:nvPr/>
        </p:nvSpPr>
        <p:spPr>
          <a:xfrm>
            <a:off x="6667500" y="17526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87%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85DCD1-1B8E-4EC9-9DCD-44B92AA8BB8E}"/>
              </a:ext>
            </a:extLst>
          </p:cNvPr>
          <p:cNvSpPr>
            <a:spLocks noGrp="1"/>
          </p:cNvSpPr>
          <p:nvPr/>
        </p:nvSpPr>
        <p:spPr>
          <a:xfrm>
            <a:off x="8353425" y="1466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Маржинальность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5E2A66A-AA38-4BEE-B90E-E57150391F02}"/>
              </a:ext>
            </a:extLst>
          </p:cNvPr>
          <p:cNvSpPr>
            <a:spLocks noGrp="1"/>
          </p:cNvSpPr>
          <p:nvPr/>
        </p:nvSpPr>
        <p:spPr>
          <a:xfrm>
            <a:off x="8353425" y="17526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7B61A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7B61A8"/>
                </a:solidFill>
                <a:latin typeface="Aptos"/>
                <a:ea typeface="Aptos"/>
                <a:cs typeface="Aptos"/>
              </a:rPr>
              <a:t>31%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7CB25FA-0CC5-4521-8E0D-1B9FC6C2F763}"/>
              </a:ext>
            </a:extLst>
          </p:cNvPr>
          <p:cNvSpPr>
            <a:spLocks noGrp="1"/>
          </p:cNvSpPr>
          <p:nvPr/>
        </p:nvSpPr>
        <p:spPr>
          <a:xfrm>
            <a:off x="10039350" y="1466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ДРР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25B6122-5E6A-40CD-8D7A-A17B094559D7}"/>
              </a:ext>
            </a:extLst>
          </p:cNvPr>
          <p:cNvSpPr>
            <a:spLocks noGrp="1"/>
          </p:cNvSpPr>
          <p:nvPr/>
        </p:nvSpPr>
        <p:spPr>
          <a:xfrm>
            <a:off x="10039350" y="17526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F47C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47C20"/>
                </a:solidFill>
                <a:latin typeface="Aptos"/>
                <a:ea typeface="Aptos"/>
                <a:cs typeface="Aptos"/>
              </a:rPr>
              <a:t>14%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="419100" y="1562100"/>
          <a:ext cx="5810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AC5F9E3-6693-48B9-A02F-9AACD97B3BF2}"/>
              </a:ext>
            </a:extLst>
          </p:cNvPr>
          <p:cNvSpPr>
            <a:spLocks noGrp="1"/>
          </p:cNvSpPr>
          <p:nvPr/>
        </p:nvSpPr>
        <p:spPr>
          <a:xfrm>
            <a:off x="6667500" y="268605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Сравнение кабинетов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C1D9E2-4119-48CC-8E01-EB0852FFA5C3}"/>
              </a:ext>
            </a:extLst>
          </p:cNvPr>
          <p:cNvSpPr>
            <a:spLocks noGrp="1"/>
          </p:cNvSpPr>
          <p:nvPr/>
        </p:nvSpPr>
        <p:spPr>
          <a:xfrm>
            <a:off x="6667500" y="31432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077"/>
                </a:solidFill>
                <a:latin typeface="Aptos"/>
                <a:ea typeface="Aptos"/>
                <a:cs typeface="Aptos"/>
              </a:rPr>
              <a:t>Кабинет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3A68C81-2CE4-402B-8893-35E6758191A6}"/>
              </a:ext>
            </a:extLst>
          </p:cNvPr>
          <p:cNvSpPr>
            <a:spLocks noGrp="1"/>
          </p:cNvSpPr>
          <p:nvPr/>
        </p:nvSpPr>
        <p:spPr>
          <a:xfrm>
            <a:off x="7858125" y="31432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077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705315D-67DD-4FB6-9DCA-F17306A7B017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077"/>
                </a:solidFill>
                <a:latin typeface="Aptos"/>
                <a:ea typeface="Aptos"/>
                <a:cs typeface="Aptos"/>
              </a:rPr>
              <a:t>Маржа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177E9FE-5A46-4BB8-9B6D-1D5E2E7772E3}"/>
              </a:ext>
            </a:extLst>
          </p:cNvPr>
          <p:cNvSpPr>
            <a:spLocks noGrp="1"/>
          </p:cNvSpPr>
          <p:nvPr/>
        </p:nvSpPr>
        <p:spPr>
          <a:xfrm>
            <a:off x="10239375" y="31432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077"/>
                </a:solidFill>
                <a:latin typeface="Aptos"/>
                <a:ea typeface="Aptos"/>
                <a:cs typeface="Aptos"/>
              </a:rPr>
              <a:t>ДРР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FB2237D-E441-482E-927A-A808F8B83007}"/>
              </a:ext>
            </a:extLst>
          </p:cNvPr>
          <p:cNvSpPr>
            <a:spLocks noGrp="1"/>
          </p:cNvSpPr>
          <p:nvPr/>
        </p:nvSpPr>
        <p:spPr>
          <a:xfrm>
            <a:off x="6667500" y="3524250"/>
            <a:ext cx="476250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6F84701-9435-4E2F-93F1-14E263F6CC9B}"/>
              </a:ext>
            </a:extLst>
          </p:cNvPr>
          <p:cNvSpPr>
            <a:spLocks noGrp="1"/>
          </p:cNvSpPr>
          <p:nvPr/>
        </p:nvSpPr>
        <p:spPr>
          <a:xfrm>
            <a:off x="6667500" y="36385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Кабинет A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3E0A5F7-8EFC-428F-B283-AECD8DAC0EAF}"/>
              </a:ext>
            </a:extLst>
          </p:cNvPr>
          <p:cNvSpPr>
            <a:spLocks noGrp="1"/>
          </p:cNvSpPr>
          <p:nvPr/>
        </p:nvSpPr>
        <p:spPr>
          <a:xfrm>
            <a:off x="7858125" y="36385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92%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5AB8A68-B7DC-4016-9B0A-18AD9FA74927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33%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6A76667-E68D-4AEE-A2F7-82FD560DE2D6}"/>
              </a:ext>
            </a:extLst>
          </p:cNvPr>
          <p:cNvSpPr>
            <a:spLocks noGrp="1"/>
          </p:cNvSpPr>
          <p:nvPr/>
        </p:nvSpPr>
        <p:spPr>
          <a:xfrm>
            <a:off x="10239375" y="36385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12%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0B779B3-F95E-4D7B-8A8E-3E5D4C6BD1B1}"/>
              </a:ext>
            </a:extLst>
          </p:cNvPr>
          <p:cNvSpPr>
            <a:spLocks noGrp="1"/>
          </p:cNvSpPr>
          <p:nvPr/>
        </p:nvSpPr>
        <p:spPr>
          <a:xfrm>
            <a:off x="6667500" y="4171950"/>
            <a:ext cx="476250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4C9EA9A-F0CA-411B-AAAA-A0A68D6E7943}"/>
              </a:ext>
            </a:extLst>
          </p:cNvPr>
          <p:cNvSpPr>
            <a:spLocks noGrp="1"/>
          </p:cNvSpPr>
          <p:nvPr/>
        </p:nvSpPr>
        <p:spPr>
          <a:xfrm>
            <a:off x="6667500" y="42862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Кабинет B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29A5B37-33BB-44CF-9B89-016463D6B2E7}"/>
              </a:ext>
            </a:extLst>
          </p:cNvPr>
          <p:cNvSpPr>
            <a:spLocks noGrp="1"/>
          </p:cNvSpPr>
          <p:nvPr/>
        </p:nvSpPr>
        <p:spPr>
          <a:xfrm>
            <a:off x="7858125" y="42862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84%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F11BD8D-B6DF-47D7-A376-FA26A8B36C4F}"/>
              </a:ext>
            </a:extLst>
          </p:cNvPr>
          <p:cNvSpPr>
            <a:spLocks noGrp="1"/>
          </p:cNvSpPr>
          <p:nvPr/>
        </p:nvSpPr>
        <p:spPr>
          <a:xfrm>
            <a:off x="9048750" y="42862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29%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4DB9F38-FDE2-4BF6-A4E3-67AA237A67A9}"/>
              </a:ext>
            </a:extLst>
          </p:cNvPr>
          <p:cNvSpPr>
            <a:spLocks noGrp="1"/>
          </p:cNvSpPr>
          <p:nvPr/>
        </p:nvSpPr>
        <p:spPr>
          <a:xfrm>
            <a:off x="10239375" y="42862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16%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E9CD160-6B81-4917-9CA2-A8EBAB17E634}"/>
              </a:ext>
            </a:extLst>
          </p:cNvPr>
          <p:cNvSpPr>
            <a:spLocks noGrp="1"/>
          </p:cNvSpPr>
          <p:nvPr/>
        </p:nvSpPr>
        <p:spPr>
          <a:xfrm>
            <a:off x="6667500" y="4819650"/>
            <a:ext cx="476250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7F2C99F-BC9A-4AD0-B3F3-B380A620F294}"/>
              </a:ext>
            </a:extLst>
          </p:cNvPr>
          <p:cNvSpPr>
            <a:spLocks noGrp="1"/>
          </p:cNvSpPr>
          <p:nvPr/>
        </p:nvSpPr>
        <p:spPr>
          <a:xfrm>
            <a:off x="6667500" y="49339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Кабинет C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094202B-A8A2-4594-8D0F-9EC84BD9805F}"/>
              </a:ext>
            </a:extLst>
          </p:cNvPr>
          <p:cNvSpPr>
            <a:spLocks noGrp="1"/>
          </p:cNvSpPr>
          <p:nvPr/>
        </p:nvSpPr>
        <p:spPr>
          <a:xfrm>
            <a:off x="7858125" y="49339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79%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11BF588-616F-40DC-978C-5E7D7055F325}"/>
              </a:ext>
            </a:extLst>
          </p:cNvPr>
          <p:cNvSpPr>
            <a:spLocks noGrp="1"/>
          </p:cNvSpPr>
          <p:nvPr/>
        </p:nvSpPr>
        <p:spPr>
          <a:xfrm>
            <a:off x="9048750" y="49339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24%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9D5F856-32FB-4D06-8F6A-E5057E53617D}"/>
              </a:ext>
            </a:extLst>
          </p:cNvPr>
          <p:cNvSpPr>
            <a:spLocks noGrp="1"/>
          </p:cNvSpPr>
          <p:nvPr/>
        </p:nvSpPr>
        <p:spPr>
          <a:xfrm>
            <a:off x="10239375" y="49339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19%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37A8CDC-A0AF-41D6-8780-3E9C50794693}"/>
              </a:ext>
            </a:extLst>
          </p:cNvPr>
          <p:cNvSpPr>
            <a:spLocks noGrp="1"/>
          </p:cNvSpPr>
          <p:nvPr/>
        </p:nvSpPr>
        <p:spPr>
          <a:xfrm>
            <a:off x="6667500" y="56959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Результат: внимание сразу направлено на отклонения, а не на поиск цифр.</a:t>
            </a:r>
          </a:p>
        </p:txBody>
      </p:sp>
    </p:spTree>
    <p:extLst>
      <p:ext uri="{BB962C8B-B14F-4D97-AF65-F5344CB8AC3E}">
        <p14:creationId xmlns:p14="http://schemas.microsoft.com/office/powerpoint/2010/main" val="2096969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D09B9FD-94E9-4D33-A851-62A2F2CBD5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6D69F5-D34D-428A-B221-461106F58414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Расчётная логика ведёт к unit-экономике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A42D1F-C5B1-4320-A93F-2553281D0B88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CF7D11E-7A07-43FF-8481-F28FD194326A}"/>
              </a:ext>
            </a:extLst>
          </p:cNvPr>
          <p:cNvSpPr>
            <a:spLocks noGrp="1"/>
          </p:cNvSpPr>
          <p:nvPr/>
        </p:nvSpPr>
        <p:spPr>
          <a:xfrm>
            <a:off x="285750" y="1276350"/>
            <a:ext cx="1123950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E5B0F7-4B6F-4ED7-8E02-0273C2D18DDD}"/>
              </a:ext>
            </a:extLst>
          </p:cNvPr>
          <p:cNvSpPr>
            <a:spLocks noGrp="1"/>
          </p:cNvSpPr>
          <p:nvPr/>
        </p:nvSpPr>
        <p:spPr>
          <a:xfrm>
            <a:off x="419100" y="14478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E6A6A6-C3D4-4598-9BC5-2D74A210673E}"/>
              </a:ext>
            </a:extLst>
          </p:cNvPr>
          <p:cNvSpPr>
            <a:spLocks noGrp="1"/>
          </p:cNvSpPr>
          <p:nvPr/>
        </p:nvSpPr>
        <p:spPr>
          <a:xfrm>
            <a:off x="1219200" y="14287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Собрать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480AED-0F4C-4796-861B-D55DAD21D329}"/>
              </a:ext>
            </a:extLst>
          </p:cNvPr>
          <p:cNvSpPr>
            <a:spLocks noGrp="1"/>
          </p:cNvSpPr>
          <p:nvPr/>
        </p:nvSpPr>
        <p:spPr>
          <a:xfrm>
            <a:off x="3676650" y="1428750"/>
            <a:ext cx="752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продажи, возвраты, комиссии, логистику и рекламу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9C5602-CF43-4D6A-BADD-50258F065040}"/>
              </a:ext>
            </a:extLst>
          </p:cNvPr>
          <p:cNvSpPr>
            <a:spLocks noGrp="1"/>
          </p:cNvSpPr>
          <p:nvPr/>
        </p:nvSpPr>
        <p:spPr>
          <a:xfrm>
            <a:off x="1219200" y="2209800"/>
            <a:ext cx="998220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B9ABB1-290C-4422-AF43-F115420920D2}"/>
              </a:ext>
            </a:extLst>
          </p:cNvPr>
          <p:cNvSpPr>
            <a:spLocks noGrp="1"/>
          </p:cNvSpPr>
          <p:nvPr/>
        </p:nvSpPr>
        <p:spPr>
          <a:xfrm>
            <a:off x="419100" y="25146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A62683B-4100-4A2E-84A6-5CDCDA1C68C1}"/>
              </a:ext>
            </a:extLst>
          </p:cNvPr>
          <p:cNvSpPr>
            <a:spLocks noGrp="1"/>
          </p:cNvSpPr>
          <p:nvPr/>
        </p:nvSpPr>
        <p:spPr>
          <a:xfrm>
            <a:off x="1219200" y="24955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Нормализовать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16A936E-746F-4523-BBBC-91F21B330F7E}"/>
              </a:ext>
            </a:extLst>
          </p:cNvPr>
          <p:cNvSpPr>
            <a:spLocks noGrp="1"/>
          </p:cNvSpPr>
          <p:nvPr/>
        </p:nvSpPr>
        <p:spPr>
          <a:xfrm>
            <a:off x="3676650" y="2495550"/>
            <a:ext cx="752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единые статьи, категории, периоды и кабинеты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8508E2-9759-477F-BE0B-83A1579D8FAB}"/>
              </a:ext>
            </a:extLst>
          </p:cNvPr>
          <p:cNvSpPr>
            <a:spLocks noGrp="1"/>
          </p:cNvSpPr>
          <p:nvPr/>
        </p:nvSpPr>
        <p:spPr>
          <a:xfrm>
            <a:off x="1219200" y="3276600"/>
            <a:ext cx="998220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718388-6B51-48E4-9432-54ECD960AF41}"/>
              </a:ext>
            </a:extLst>
          </p:cNvPr>
          <p:cNvSpPr>
            <a:spLocks noGrp="1"/>
          </p:cNvSpPr>
          <p:nvPr/>
        </p:nvSpPr>
        <p:spPr>
          <a:xfrm>
            <a:off x="419100" y="35814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F1C6431-EB79-4C7C-947C-4C44D25ED36F}"/>
              </a:ext>
            </a:extLst>
          </p:cNvPr>
          <p:cNvSpPr>
            <a:spLocks noGrp="1"/>
          </p:cNvSpPr>
          <p:nvPr/>
        </p:nvSpPr>
        <p:spPr>
          <a:xfrm>
            <a:off x="1219200" y="35623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Распределить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EFCF5ED-AF6F-4571-9511-A7ABAD4D3CE4}"/>
              </a:ext>
            </a:extLst>
          </p:cNvPr>
          <p:cNvSpPr>
            <a:spLocks noGrp="1"/>
          </p:cNvSpPr>
          <p:nvPr/>
        </p:nvSpPr>
        <p:spPr>
          <a:xfrm>
            <a:off x="3676650" y="3562350"/>
            <a:ext cx="752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общие и нераспределённые расходы по доле продаж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314CB5B-AECB-465D-8568-FA6AD40D1978}"/>
              </a:ext>
            </a:extLst>
          </p:cNvPr>
          <p:cNvSpPr>
            <a:spLocks noGrp="1"/>
          </p:cNvSpPr>
          <p:nvPr/>
        </p:nvSpPr>
        <p:spPr>
          <a:xfrm>
            <a:off x="1219200" y="4343400"/>
            <a:ext cx="998220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7437C3-E97F-435F-9A7A-D659EA4B374C}"/>
              </a:ext>
            </a:extLst>
          </p:cNvPr>
          <p:cNvSpPr>
            <a:spLocks noGrp="1"/>
          </p:cNvSpPr>
          <p:nvPr/>
        </p:nvSpPr>
        <p:spPr>
          <a:xfrm>
            <a:off x="419100" y="4648200"/>
            <a:ext cx="552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3AA12BE-0DA0-4E2F-84B6-11A823CCBFFF}"/>
              </a:ext>
            </a:extLst>
          </p:cNvPr>
          <p:cNvSpPr>
            <a:spLocks noGrp="1"/>
          </p:cNvSpPr>
          <p:nvPr/>
        </p:nvSpPr>
        <p:spPr>
          <a:xfrm>
            <a:off x="1219200" y="46291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Рассчитать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3D67157-570D-4279-A58C-1787E03547DC}"/>
              </a:ext>
            </a:extLst>
          </p:cNvPr>
          <p:cNvSpPr>
            <a:spLocks noGrp="1"/>
          </p:cNvSpPr>
          <p:nvPr/>
        </p:nvSpPr>
        <p:spPr>
          <a:xfrm>
            <a:off x="3676650" y="4629150"/>
            <a:ext cx="752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маржу, рентабельность, ДРР и unit-прибыль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2C05EEF-1534-4949-9E55-06EDB78E58CD}"/>
              </a:ext>
            </a:extLst>
          </p:cNvPr>
          <p:cNvSpPr>
            <a:spLocks noGrp="1"/>
          </p:cNvSpPr>
          <p:nvPr/>
        </p:nvSpPr>
        <p:spPr>
          <a:xfrm>
            <a:off x="419100" y="5857875"/>
            <a:ext cx="10782300" cy="381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07BD00-8F61-4B82-9159-EFE1E9D99AA2}"/>
              </a:ext>
            </a:extLst>
          </p:cNvPr>
          <p:cNvSpPr>
            <a:spLocks noGrp="1"/>
          </p:cNvSpPr>
          <p:nvPr/>
        </p:nvSpPr>
        <p:spPr>
          <a:xfrm>
            <a:off x="419100" y="6000750"/>
            <a:ext cx="10782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Формулы остаются проверяемыми: расчёты можно проследить от статьи затрат до итогового KPI.</a:t>
            </a:r>
          </a:p>
        </p:txBody>
      </p:sp>
    </p:spTree>
    <p:extLst>
      <p:ext uri="{BB962C8B-B14F-4D97-AF65-F5344CB8AC3E}">
        <p14:creationId xmlns:p14="http://schemas.microsoft.com/office/powerpoint/2010/main" val="72703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AA08C80-9C9F-4893-9871-2C26F63707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65B8C2-DDBF-4FE9-9C2D-65E8EBB7D8D4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Одна модель — от стратегии до ежедневного контроля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0806B3-DBAF-407A-AA6A-22122196EFAF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9B70094-C642-487F-B01F-3EF566CFD256}"/>
              </a:ext>
            </a:extLst>
          </p:cNvPr>
          <p:cNvSpPr>
            <a:spLocks noGrp="1"/>
          </p:cNvSpPr>
          <p:nvPr/>
        </p:nvSpPr>
        <p:spPr>
          <a:xfrm>
            <a:off x="285750" y="1314450"/>
            <a:ext cx="7124700" cy="46482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3E334FA-65B4-45E0-BF29-D76D253E4C4C}"/>
              </a:ext>
            </a:extLst>
          </p:cNvPr>
          <p:cNvSpPr>
            <a:spLocks noGrp="1"/>
          </p:cNvSpPr>
          <p:nvPr/>
        </p:nvSpPr>
        <p:spPr>
          <a:xfrm>
            <a:off x="7562850" y="1314450"/>
            <a:ext cx="3962400" cy="46482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24" name="Chart"/>
          <p:cNvGraphicFramePr/>
          <p:nvPr/>
        </p:nvGraphicFramePr>
        <p:xfrm>
          <a:off x="419100" y="1466850"/>
          <a:ext cx="672465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32AB12-73F7-4FC3-8FBA-3DADD2EBB28E}"/>
              </a:ext>
            </a:extLst>
          </p:cNvPr>
          <p:cNvSpPr>
            <a:spLocks noGrp="1"/>
          </p:cNvSpPr>
          <p:nvPr/>
        </p:nvSpPr>
        <p:spPr>
          <a:xfrm>
            <a:off x="7658100" y="14859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Год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A1A6023-3413-4DA5-A0A1-FE6825D28312}"/>
              </a:ext>
            </a:extLst>
          </p:cNvPr>
          <p:cNvSpPr>
            <a:spLocks noGrp="1"/>
          </p:cNvSpPr>
          <p:nvPr/>
        </p:nvSpPr>
        <p:spPr>
          <a:xfrm>
            <a:off x="8934450" y="145732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динамика категорий и год-к-году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687AFE4-067D-4F9B-8404-184825751885}"/>
              </a:ext>
            </a:extLst>
          </p:cNvPr>
          <p:cNvSpPr>
            <a:spLocks noGrp="1"/>
          </p:cNvSpPr>
          <p:nvPr/>
        </p:nvSpPr>
        <p:spPr>
          <a:xfrm>
            <a:off x="7658100" y="2171700"/>
            <a:ext cx="375285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393AC42-304E-4708-AB0E-CF195E3836D8}"/>
              </a:ext>
            </a:extLst>
          </p:cNvPr>
          <p:cNvSpPr>
            <a:spLocks noGrp="1"/>
          </p:cNvSpPr>
          <p:nvPr/>
        </p:nvSpPr>
        <p:spPr>
          <a:xfrm>
            <a:off x="7658100" y="24574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CF219C6-A320-44A8-BEED-2D4494E3DA9C}"/>
              </a:ext>
            </a:extLst>
          </p:cNvPr>
          <p:cNvSpPr>
            <a:spLocks noGrp="1"/>
          </p:cNvSpPr>
          <p:nvPr/>
        </p:nvSpPr>
        <p:spPr>
          <a:xfrm>
            <a:off x="8934450" y="24288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план-факт и изменение экономики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1F9D50D-A702-4B3E-A238-D97D0F7943A4}"/>
              </a:ext>
            </a:extLst>
          </p:cNvPr>
          <p:cNvSpPr>
            <a:spLocks noGrp="1"/>
          </p:cNvSpPr>
          <p:nvPr/>
        </p:nvSpPr>
        <p:spPr>
          <a:xfrm>
            <a:off x="7658100" y="3143250"/>
            <a:ext cx="375285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3833750-F60A-4D6F-8592-6E8A75BDFBBF}"/>
              </a:ext>
            </a:extLst>
          </p:cNvPr>
          <p:cNvSpPr>
            <a:spLocks noGrp="1"/>
          </p:cNvSpPr>
          <p:nvPr/>
        </p:nvSpPr>
        <p:spPr>
          <a:xfrm>
            <a:off x="7658100" y="34290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Неделя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640C7F3-E8AC-4197-8253-B3D778512EF6}"/>
              </a:ext>
            </a:extLst>
          </p:cNvPr>
          <p:cNvSpPr>
            <a:spLocks noGrp="1"/>
          </p:cNvSpPr>
          <p:nvPr/>
        </p:nvSpPr>
        <p:spPr>
          <a:xfrm>
            <a:off x="8934450" y="340042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операционные тренды и реклама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A38B732-EAFD-4745-91DF-189BA11127DC}"/>
              </a:ext>
            </a:extLst>
          </p:cNvPr>
          <p:cNvSpPr>
            <a:spLocks noGrp="1"/>
          </p:cNvSpPr>
          <p:nvPr/>
        </p:nvSpPr>
        <p:spPr>
          <a:xfrm>
            <a:off x="7658100" y="4114800"/>
            <a:ext cx="375285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3A4984B-7890-4618-8E7E-F55C136919B4}"/>
              </a:ext>
            </a:extLst>
          </p:cNvPr>
          <p:cNvSpPr>
            <a:spLocks noGrp="1"/>
          </p:cNvSpPr>
          <p:nvPr/>
        </p:nvSpPr>
        <p:spPr>
          <a:xfrm>
            <a:off x="7658100" y="44005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День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2CDD8E5-5275-4352-B4D2-63EF7D095BDC}"/>
              </a:ext>
            </a:extLst>
          </p:cNvPr>
          <p:cNvSpPr>
            <a:spLocks noGrp="1"/>
          </p:cNvSpPr>
          <p:nvPr/>
        </p:nvSpPr>
        <p:spPr>
          <a:xfrm>
            <a:off x="8934450" y="43719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быстрый контроль продаж и запаса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39C18A3-9621-4C8A-88CD-D0DA834165FE}"/>
              </a:ext>
            </a:extLst>
          </p:cNvPr>
          <p:cNvSpPr>
            <a:spLocks noGrp="1"/>
          </p:cNvSpPr>
          <p:nvPr/>
        </p:nvSpPr>
        <p:spPr>
          <a:xfrm>
            <a:off x="419100" y="58864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Индексированные демонстрационные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36984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A220119-8070-4596-98E3-4C380064CD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AD5363-4C89-4D89-B4BE-14D6412E5B18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Что этот кейс показывает работодателю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605BBD5-EB49-479F-8DAF-BBC245157DBB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6D3DE3A-8555-41E7-A9F7-EA694D092C92}"/>
              </a:ext>
            </a:extLst>
          </p:cNvPr>
          <p:cNvSpPr>
            <a:spLocks noGrp="1"/>
          </p:cNvSpPr>
          <p:nvPr/>
        </p:nvSpPr>
        <p:spPr>
          <a:xfrm>
            <a:off x="285750" y="1390650"/>
            <a:ext cx="52959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78863EC-B5BF-4472-AA21-48FF36A7D70E}"/>
              </a:ext>
            </a:extLst>
          </p:cNvPr>
          <p:cNvSpPr>
            <a:spLocks noGrp="1"/>
          </p:cNvSpPr>
          <p:nvPr/>
        </p:nvSpPr>
        <p:spPr>
          <a:xfrm>
            <a:off x="419100" y="15049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Проектирование модели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ECEA37E-DCA8-4F86-BAD4-A7D0437A6BE4}"/>
              </a:ext>
            </a:extLst>
          </p:cNvPr>
          <p:cNvSpPr>
            <a:spLocks noGrp="1"/>
          </p:cNvSpPr>
          <p:nvPr/>
        </p:nvSpPr>
        <p:spPr>
          <a:xfrm>
            <a:off x="419100" y="201930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связать бизнес-вопросы, справочники, расчёты и визуализацию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F8EFE22-4FBA-47CA-B6DA-F65BE90C5A10}"/>
              </a:ext>
            </a:extLst>
          </p:cNvPr>
          <p:cNvSpPr>
            <a:spLocks noGrp="1"/>
          </p:cNvSpPr>
          <p:nvPr/>
        </p:nvSpPr>
        <p:spPr>
          <a:xfrm>
            <a:off x="419100" y="2857500"/>
            <a:ext cx="4953000" cy="28575"/>
          </a:xfrm>
          <a:prstGeom prst="rect">
            <a:avLst/>
          </a:prstGeom>
          <a:solidFill>
            <a:srgbClr val="2D4E83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67A7C0E-8620-41D1-87B2-5DC90FF05DD5}"/>
              </a:ext>
            </a:extLst>
          </p:cNvPr>
          <p:cNvSpPr>
            <a:spLocks noGrp="1"/>
          </p:cNvSpPr>
          <p:nvPr/>
        </p:nvSpPr>
        <p:spPr>
          <a:xfrm>
            <a:off x="6019800" y="1390650"/>
            <a:ext cx="52959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53C507F-B4C4-41E7-BA4D-B992ED7EBE48}"/>
              </a:ext>
            </a:extLst>
          </p:cNvPr>
          <p:cNvSpPr>
            <a:spLocks noGrp="1"/>
          </p:cNvSpPr>
          <p:nvPr/>
        </p:nvSpPr>
        <p:spPr>
          <a:xfrm>
            <a:off x="6153150" y="15049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Excel-аналитика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809198A-501F-4585-BFEF-CF7589BA7E26}"/>
              </a:ext>
            </a:extLst>
          </p:cNvPr>
          <p:cNvSpPr>
            <a:spLocks noGrp="1"/>
          </p:cNvSpPr>
          <p:nvPr/>
        </p:nvSpPr>
        <p:spPr>
          <a:xfrm>
            <a:off x="6153150" y="201930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сводные таблицы, формулы, диаграммы, фильтры и периодические срезы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D2E6BD4-3B5F-4414-97F1-A6D05850F5DC}"/>
              </a:ext>
            </a:extLst>
          </p:cNvPr>
          <p:cNvSpPr>
            <a:spLocks noGrp="1"/>
          </p:cNvSpPr>
          <p:nvPr/>
        </p:nvSpPr>
        <p:spPr>
          <a:xfrm>
            <a:off x="6153150" y="2857500"/>
            <a:ext cx="4953000" cy="28575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7ACDAC6-C35A-43BD-B1A6-E1F6366C1EC3}"/>
              </a:ext>
            </a:extLst>
          </p:cNvPr>
          <p:cNvSpPr>
            <a:spLocks noGrp="1"/>
          </p:cNvSpPr>
          <p:nvPr/>
        </p:nvSpPr>
        <p:spPr>
          <a:xfrm>
            <a:off x="285750" y="3124200"/>
            <a:ext cx="52959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7F3F75C-BD49-4530-BB45-06F808CDC1DD}"/>
              </a:ext>
            </a:extLst>
          </p:cNvPr>
          <p:cNvSpPr>
            <a:spLocks noGrp="1"/>
          </p:cNvSpPr>
          <p:nvPr/>
        </p:nvSpPr>
        <p:spPr>
          <a:xfrm>
            <a:off x="419100" y="3238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Финансовая логика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8341E09-FA57-47D9-B45D-F79FE1A98C8E}"/>
              </a:ext>
            </a:extLst>
          </p:cNvPr>
          <p:cNvSpPr>
            <a:spLocks noGrp="1"/>
          </p:cNvSpPr>
          <p:nvPr/>
        </p:nvSpPr>
        <p:spPr>
          <a:xfrm>
            <a:off x="419100" y="375285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маржа, рентабельность, unit-экономика и распределение расходов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CD28BEE-6B29-4E11-84F8-3C683C6AA7C2}"/>
              </a:ext>
            </a:extLst>
          </p:cNvPr>
          <p:cNvSpPr>
            <a:spLocks noGrp="1"/>
          </p:cNvSpPr>
          <p:nvPr/>
        </p:nvSpPr>
        <p:spPr>
          <a:xfrm>
            <a:off x="419100" y="4591050"/>
            <a:ext cx="4953000" cy="28575"/>
          </a:xfrm>
          <a:prstGeom prst="rect">
            <a:avLst/>
          </a:prstGeom>
          <a:solidFill>
            <a:srgbClr val="2D4E83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196E745-1EA4-466E-8A0C-72953698D7CD}"/>
              </a:ext>
            </a:extLst>
          </p:cNvPr>
          <p:cNvSpPr>
            <a:spLocks noGrp="1"/>
          </p:cNvSpPr>
          <p:nvPr/>
        </p:nvSpPr>
        <p:spPr>
          <a:xfrm>
            <a:off x="6019800" y="3124200"/>
            <a:ext cx="52959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D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66318CC-7747-47B0-BD43-94FBC078E45F}"/>
              </a:ext>
            </a:extLst>
          </p:cNvPr>
          <p:cNvSpPr>
            <a:spLocks noGrp="1"/>
          </p:cNvSpPr>
          <p:nvPr/>
        </p:nvSpPr>
        <p:spPr>
          <a:xfrm>
            <a:off x="6153150" y="3238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24112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112F"/>
                </a:solidFill>
                <a:latin typeface="Aptos"/>
                <a:ea typeface="Aptos"/>
                <a:cs typeface="Aptos"/>
              </a:rPr>
              <a:t>E-commerce экспертиза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64231C6-B80D-4466-B48D-C2AEDE566CD5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6E60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6077"/>
                </a:solidFill>
                <a:latin typeface="Aptos"/>
                <a:ea typeface="Aptos"/>
                <a:cs typeface="Aptos"/>
              </a:rPr>
              <a:t>комиссии, логистика, штрафы, реклама, ДРР и оборачиваемость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6E8F1CA-F237-4B7B-9C2E-C59F84228931}"/>
              </a:ext>
            </a:extLst>
          </p:cNvPr>
          <p:cNvSpPr>
            <a:spLocks noGrp="1"/>
          </p:cNvSpPr>
          <p:nvPr/>
        </p:nvSpPr>
        <p:spPr>
          <a:xfrm>
            <a:off x="6153150" y="4591050"/>
            <a:ext cx="4953000" cy="28575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E93CA77-DCC7-4772-9B5F-943412325E91}"/>
              </a:ext>
            </a:extLst>
          </p:cNvPr>
          <p:cNvSpPr>
            <a:spLocks noGrp="1"/>
          </p:cNvSpPr>
          <p:nvPr/>
        </p:nvSpPr>
        <p:spPr>
          <a:xfrm>
            <a:off x="419100" y="5429250"/>
            <a:ext cx="11353800" cy="9525"/>
          </a:xfrm>
          <a:prstGeom prst="rect">
            <a:avLst/>
          </a:prstGeom>
          <a:solidFill>
            <a:srgbClr val="DDD0E7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D244F0E-B6B0-4D9C-8107-714F361C3B54}"/>
              </a:ext>
            </a:extLst>
          </p:cNvPr>
          <p:cNvSpPr>
            <a:spLocks noGrp="1"/>
          </p:cNvSpPr>
          <p:nvPr/>
        </p:nvSpPr>
        <p:spPr>
          <a:xfrm>
            <a:off x="419100" y="563880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2D4E8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4E83"/>
                </a:solidFill>
                <a:latin typeface="Aptos"/>
                <a:ea typeface="Aptos"/>
                <a:cs typeface="Aptos"/>
              </a:rPr>
              <a:t>Готова адаптировать такую модель под данные, процессы и KPI вашей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60502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E401F3-DA22-4288-B480-3E0A40AAAF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E57B17-3FC2-4E77-84BF-7D85358759B8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Сводный дашборд: план-факт и динамика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FED7C9D-3B63-4F8E-AA41-1AF68E9E5F3E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185661"/>
            <a:ext cx="11772900" cy="545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4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D8A7D7E-2A35-4A9C-AF1C-E9AF4E3818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2EAC5D-9D7A-427E-BA98-8AE79DF4CB70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Общие показатели: динамика и экономика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9DAF9B-2FDF-4D7A-A0B8-2C5F7351BEC6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8688" y="1181100"/>
            <a:ext cx="11234623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2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BCBC3B-B7FF-4F5F-B1C3-3C74467651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31C474-B7C6-47A9-B0B2-A6DD3EE57795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E-COM: детализация доходов и расходов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76DED6-A4DD-47FC-840F-B80B9C8AEF6B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0690" y="1181100"/>
            <a:ext cx="1063062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AB12C9-9C45-48BB-8277-9090243C5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8907F5F-D477-4C82-AAAB-14F0B26392D6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Итоги</a:t>
            </a:r>
            <a:r>
              <a:rPr sz="33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33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года</a:t>
            </a:r>
            <a:r>
              <a:rPr lang="ru-RU" sz="33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месяц, неделя</a:t>
            </a:r>
            <a:r>
              <a:rPr sz="33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sz="33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категории</a:t>
            </a:r>
            <a:r>
              <a:rPr sz="33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и unit-</a:t>
            </a:r>
            <a:r>
              <a:rPr sz="33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экономика</a:t>
            </a:r>
            <a:r>
              <a:rPr lang="ru-RU" sz="33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sz="330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2B64F30-21ED-4EAC-B242-98AC046F9625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3004" y="1181100"/>
            <a:ext cx="11765993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61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889DF9-6403-4B8B-87A9-AF04576D7A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78D043-97C8-4C95-8C69-14F852AE58E5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Ежедневный отчёт: продажи и unit-экономика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484026-E43B-4BAB-8B7D-05BB4A38DDE1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8688" y="1181100"/>
            <a:ext cx="11234623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9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735298B-4DA4-402D-8340-01B71FDC8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4B007B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9176787-5E72-4A09-8981-C9DCB2D9C18B}"/>
              </a:ext>
            </a:extLst>
          </p:cNvPr>
          <p:cNvSpPr>
            <a:spLocks noGrp="1"/>
          </p:cNvSpPr>
          <p:nvPr/>
        </p:nvSpPr>
        <p:spPr>
          <a:xfrm>
            <a:off x="400050" y="171450"/>
            <a:ext cx="10715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Оборачиваемость: скорость продаж и запас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613733-535F-4BE2-8E6C-AFDBCB9C2935}"/>
              </a:ext>
            </a:extLst>
          </p:cNvPr>
          <p:cNvSpPr>
            <a:spLocks noGrp="1"/>
          </p:cNvSpPr>
          <p:nvPr/>
        </p:nvSpPr>
        <p:spPr>
          <a:xfrm>
            <a:off x="11277600" y="32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>
                <a:solidFill>
                  <a:srgbClr val="DCC8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C8E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197952"/>
            <a:ext cx="11772900" cy="543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4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DocSecurity>0</DocSecurity>
  <PresentationFormat>Широкоэкранный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Aptos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Profi</cp:lastModifiedBy>
  <cp:revision>1</cp:revision>
  <dcterms:created xsi:type="dcterms:W3CDTF">2026-07-30T17:59:05Z</dcterms:created>
  <dcterms:modified xsi:type="dcterms:W3CDTF">2026-07-30T18:05:13Z</dcterms:modified>
</cp:coreProperties>
</file>